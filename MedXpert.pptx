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63" r:id="rId3"/>
    <p:sldId id="264" r:id="rId4"/>
    <p:sldId id="265" r:id="rId5"/>
    <p:sldId id="266" r:id="rId6"/>
    <p:sldId id="267" r:id="rId7"/>
    <p:sldId id="272" r:id="rId8"/>
    <p:sldId id="273" r:id="rId9"/>
    <p:sldId id="268" r:id="rId10"/>
    <p:sldId id="274" r:id="rId11"/>
    <p:sldId id="275" r:id="rId12"/>
    <p:sldId id="276" r:id="rId13"/>
    <p:sldId id="277" r:id="rId14"/>
    <p:sldId id="279" r:id="rId15"/>
    <p:sldId id="270" r:id="rId16"/>
    <p:sldId id="271" r:id="rId17"/>
    <p:sldId id="26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51"/>
    <a:srgbClr val="007B3B"/>
    <a:srgbClr val="00713A"/>
    <a:srgbClr val="068817"/>
    <a:srgbClr val="079418"/>
    <a:srgbClr val="74C427"/>
    <a:srgbClr val="A6C44B"/>
    <a:srgbClr val="8AC4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67A18E-78ED-4513-AD27-C9922176A350}" v="9" dt="2025-04-26T06:27:01.8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33" autoAdjust="0"/>
    <p:restoredTop sz="94488"/>
  </p:normalViewPr>
  <p:slideViewPr>
    <p:cSldViewPr snapToGrid="0" snapToObjects="1">
      <p:cViewPr varScale="1">
        <p:scale>
          <a:sx n="90" d="100"/>
          <a:sy n="90" d="100"/>
        </p:scale>
        <p:origin x="6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F0A63-798F-4220-BDF6-4F2A310BE51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21ACC4-E66A-45E9-847A-A5289B822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53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DB274-ECD9-6844-9790-21A98E226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71F342-481B-6046-AC35-EAEC74815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2C935-632D-5245-A926-94951C6CF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EE86-343E-4E52-A9F2-5D2AFC375F8E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E5520-4DEB-FD4B-9F22-EB7C5152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256D7-680F-CB4B-B10E-1D6FFA76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C353-9FBE-5141-8529-377FCB0DA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30843-08AB-CC45-97F8-99A8E27BA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64518-F3DB-A744-B69B-BF882A57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5F76-5E10-4AEF-869E-0247C6F0D1CC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3B07-70E9-4A47-97A0-383E69C07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EBA83-4E92-6144-A2C2-531FEF598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DF050-A008-D041-8679-9B7B4AD0D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D1FC5-B68F-274C-BB41-EE6FC3465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07DBC-D1BC-924F-AB42-F07F6E6CF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7F169-01A6-4B1E-A47F-4A7155CB8565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9AC5E-374F-1045-8258-855EA19F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5D3C0-ECB7-4049-B237-A50B432E0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35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A6DFC-FC76-AA41-A84C-F496755B5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D9D3A-21F0-4E40-8FC1-D9528CD43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B1EB2C-1ECD-F74F-82EE-AE5338B30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E6951-1B67-AD49-8D4D-58FF99B60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E048-CB7C-4B00-84F5-39B102FE9781}" type="datetime1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3D3E7-3115-F249-8615-5BB380A36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38C44-679D-054B-A50A-A5F49A6C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18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D8597-00D1-9C45-A992-045A3BCF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7F22F-BAD6-CA47-956E-3FEB21FD8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811C0-F7D6-D04A-8F95-C9184FC81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E68642-809B-9844-B0DC-46C9DDE0D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5D80E5-D2D5-4947-934C-B181284E3B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3D0AF-54FC-304C-8CDD-8D6A25A1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A94CA-0C3F-4F76-B54A-E9C7F5256EFE}" type="datetime1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F3680-FC12-0948-B162-CF4377005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586D9-BFB2-DB4B-B83A-08B319119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0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16FD0-4A21-B64D-8605-6DFE78A65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34D0E3-11DA-8245-88F0-87AC3D4C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42E04-E4B5-4DFB-A5EF-8521A604DB1B}" type="datetime1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F587B2-78B8-D540-ADCF-B3B99F7E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2A16A-DDA8-124B-9300-37B5CE13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8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55749-D3F6-5B40-B60A-AD6835E7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3E67E-64DB-4E54-A06D-62800F9BC7D1}" type="datetime1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328217-89D3-A345-901C-432A3E87E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D66D9-C338-AE44-BBDD-60CB783A1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48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F945-51BE-8E41-A001-8556328E0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31D16-F809-694B-8A56-EE18EDD3D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FB139-7CE6-4D46-9C0F-158A6D60C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B1C3C-1F82-DD4C-AC61-765315FA2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154-5495-40C2-8C85-6AB210CA44DA}" type="datetime1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65035-F317-3C4F-BE6B-DBA53E9F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CEF8A-E308-904B-8554-2B093BAF3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0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1AD82-5A17-3442-A391-EAC94984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951955-18A8-AC41-94B9-B2603FDF8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84506-8CF4-5B4E-B0B3-3B52DDCB0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8C3ED-FF8B-274F-9D47-0425A93E8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7C89-03EF-4D28-9729-C96E9EEC51ED}" type="datetime1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9DCA7-07CA-7B42-989B-53A2AA265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F7C12-4324-B949-8183-E9B72EA4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41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1FA28-CC45-F14D-ADC5-88A589FAB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DB90E-8EE2-7442-BE25-64F438EED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0B67D-8C42-0146-A757-97FBF60C0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FCB42-DC1C-4C4F-8BF5-58C19F445211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E126A-6778-D041-A7E0-9E73492B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A5F1-74BE-7F4C-BAE9-5E0A21738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73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230DE2-B4E8-9542-A63A-021B233376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5F23E2-9DA6-7745-8D21-1B6369356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D683C-E1FF-4F43-8D98-C271E6D73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7E0D-AFDA-459C-902A-77C930534CBF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0DC9B-8287-2E43-BFC8-208D4D3CB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2AD24-758C-044A-BF6A-2B1330BB7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95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9732FA-7F9B-6447-A218-D2AAD07F0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BFB8C-7133-5948-A11E-0C2B393FA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C691-56B7-4549-B5F1-C735DF3E2A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92BCB-8B05-4411-A8CB-9FBE5DB08B39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C477-BFEF-6A40-8A64-F22652C6F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B950F-F683-5649-A761-C180536A3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863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inghnavjot2062001/11000-medicine-details" TargetMode="External"/><Relationship Id="rId2" Type="http://schemas.openxmlformats.org/officeDocument/2006/relationships/hyperlink" Target="https://healthdata.gov/dataset/DailyMed/j3hv-i8vg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o.drugbank.com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inghnavjot2062001/11000-medicine-details" TargetMode="External"/><Relationship Id="rId2" Type="http://schemas.openxmlformats.org/officeDocument/2006/relationships/hyperlink" Target="https://healthdata.gov/dataset/DailyMed/j3hv-i8vg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o.drugbank.com/" TargetMode="External"/><Relationship Id="rId5" Type="http://schemas.openxmlformats.org/officeDocument/2006/relationships/hyperlink" Target="https://robofy.ai/" TargetMode="External"/><Relationship Id="rId4" Type="http://schemas.openxmlformats.org/officeDocument/2006/relationships/hyperlink" Target="https://arxiv.org/abs/2401.00268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8F09505-16A9-5F40-9BAF-3E022D3C2EAB}"/>
              </a:ext>
            </a:extLst>
          </p:cNvPr>
          <p:cNvSpPr/>
          <p:nvPr/>
        </p:nvSpPr>
        <p:spPr>
          <a:xfrm>
            <a:off x="0" y="846666"/>
            <a:ext cx="12192000" cy="4536636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B1086-1365-B942-BFE2-A2552509A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1" y="1239830"/>
            <a:ext cx="11074400" cy="113612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MedXpert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Multimodal AI Chatbot for Symptom Recognition, Medicine Recommendations, Multilingual Care, and Personalized User Manuals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FC1D17-55AD-6C45-BF39-A59E65E27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B29CF7-7FFE-834F-A256-BC3C11FAF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62" y="6016749"/>
            <a:ext cx="1599045" cy="68530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692014-46C0-4B98-BCEF-92C15424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A072C-2202-79D9-AEA8-9B79024E807F}"/>
              </a:ext>
            </a:extLst>
          </p:cNvPr>
          <p:cNvSpPr txBox="1"/>
          <p:nvPr/>
        </p:nvSpPr>
        <p:spPr>
          <a:xfrm>
            <a:off x="3175000" y="2810702"/>
            <a:ext cx="543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Krishna Annavaram </a:t>
            </a:r>
          </a:p>
          <a:p>
            <a:pPr algn="ctr"/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VighnaSree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F9972-3945-A44E-231D-62836E7C5B3D}"/>
              </a:ext>
            </a:extLst>
          </p:cNvPr>
          <p:cNvSpPr txBox="1"/>
          <p:nvPr/>
        </p:nvSpPr>
        <p:spPr>
          <a:xfrm>
            <a:off x="7433733" y="3186583"/>
            <a:ext cx="4436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755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376365-6737-5D81-A981-4512BA9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2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D52BDD-87C1-3883-A181-4954E346C4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8D792F-F5A5-E605-490E-3182CD0E44D6}"/>
              </a:ext>
            </a:extLst>
          </p:cNvPr>
          <p:cNvSpPr txBox="1"/>
          <p:nvPr/>
        </p:nvSpPr>
        <p:spPr>
          <a:xfrm>
            <a:off x="0" y="30796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B5EB53-D2E1-FB35-1A03-30D448C745F7}"/>
              </a:ext>
            </a:extLst>
          </p:cNvPr>
          <p:cNvSpPr txBox="1"/>
          <p:nvPr/>
        </p:nvSpPr>
        <p:spPr>
          <a:xfrm>
            <a:off x="753533" y="1439333"/>
            <a:ext cx="109135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Many patients struggle to find quick, accurate, and understandable medicine recommendations based on their symptoms.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Existing platforms are overloaded with clinical jargon, inconsistent data, and lack of regional language support.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There’s a critical gap between natural symptom descriptions and structured medical guidance that patients can easily understand.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bg1"/>
                </a:solidFill>
              </a:rPr>
              <a:t>MedXpert</a:t>
            </a:r>
            <a:r>
              <a:rPr lang="en-US" dirty="0">
                <a:solidFill>
                  <a:schemeClr val="bg1"/>
                </a:solidFill>
              </a:rPr>
              <a:t> bridges this gap using a conversational AI assistant that routes queries to SQL or vector databases and summarizes results using GPT-4.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It also enables users to generate multilingual, patient-friendly medicine manuals — making healthcare more accessible and personalized.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DFD82-099D-F641-1FAB-EA2059E41464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311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17936-679D-6EE8-3176-EB61750F1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0CCD14-CB17-750F-9187-3D0CCFE523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3FB470-BBC7-889B-1F7C-9A9E693EED82}"/>
              </a:ext>
            </a:extLst>
          </p:cNvPr>
          <p:cNvSpPr txBox="1"/>
          <p:nvPr/>
        </p:nvSpPr>
        <p:spPr>
          <a:xfrm>
            <a:off x="-270934" y="2364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C684C-0153-0B7D-EA54-E210F696BD2D}"/>
              </a:ext>
            </a:extLst>
          </p:cNvPr>
          <p:cNvSpPr txBox="1"/>
          <p:nvPr/>
        </p:nvSpPr>
        <p:spPr>
          <a:xfrm>
            <a:off x="313268" y="1057759"/>
            <a:ext cx="1134533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 1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Wang, Y., et al. (2024). </a:t>
            </a:r>
            <a:r>
              <a:rPr lang="en-US" sz="16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ProbGate</a:t>
            </a:r>
            <a:r>
              <a:rPr lang="en-US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EHRSQL: Enhancing SQL Query Generation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Existing SQL generation models in healthcare struggle with accuracy and error handling due to complex queries and ambiguous language.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Developed a transformer-based model with probabilistic gating and an abstention mechanism to improve SQL reliability.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Tailored for professional EMR systems, not user-facing applications with informal symptom inputs.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Aspects: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fallback strategy for uncertain outputs inspired our multi-agent design, especially the use of a web-search agent when SQL generation fails.</a:t>
            </a:r>
          </a:p>
          <a:p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60D5EA-DA8E-2EEA-3B19-BDFB88F07704}"/>
              </a:ext>
            </a:extLst>
          </p:cNvPr>
          <p:cNvSpPr txBox="1"/>
          <p:nvPr/>
        </p:nvSpPr>
        <p:spPr>
          <a:xfrm>
            <a:off x="372534" y="3786941"/>
            <a:ext cx="112268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 2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Jadhav, A., et al. (2023). </a:t>
            </a:r>
            <a:r>
              <a:rPr lang="en-US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Chatbot Using NLP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IJCSIT.</a:t>
            </a:r>
          </a:p>
          <a:p>
            <a:pPr>
              <a:buNone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Users lack a quick and accessible way to assess symptoms and receive relevant medical suggestions.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Built a rule-based NLP chatbot using decision trees to classify user symptoms and suggest potential diseases.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Lacks adaptability, multilingual output, and connection to real-time databases.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Aspects: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logic of symptom categorization influenced our frontend chatbot flow and initial input classification module.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655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2E19A-D5BE-0A82-DFEB-104E1B848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ADE6F1-C5B1-F2F6-95C6-66AED3B85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EBD2BC-6576-2B25-8F88-82EEB6480B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02991-1F79-64E8-A4A5-9CDC8CFCD5DA}"/>
              </a:ext>
            </a:extLst>
          </p:cNvPr>
          <p:cNvSpPr txBox="1"/>
          <p:nvPr/>
        </p:nvSpPr>
        <p:spPr>
          <a:xfrm>
            <a:off x="-270934" y="2364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Survey(Cont.)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B60E1-6DA5-E505-BB62-7290973E14D4}"/>
              </a:ext>
            </a:extLst>
          </p:cNvPr>
          <p:cNvSpPr txBox="1"/>
          <p:nvPr/>
        </p:nvSpPr>
        <p:spPr>
          <a:xfrm>
            <a:off x="313268" y="1157726"/>
            <a:ext cx="11226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 3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Patel, K. (2023). </a:t>
            </a:r>
            <a:r>
              <a:rPr lang="en-US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Medical Chatbot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Preprints.</a:t>
            </a:r>
          </a:p>
          <a:p>
            <a:pPr>
              <a:buNone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chatbots without database querying capabilities offer limited support for patient health questions.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Used static rule-based systems connected to MS Access to provide response to user-entered health queries.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Limited scalability, lacks modern NLP techniques, and no use of advanced AI or LLMs.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Aspects: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 paper gave the foundational idea of linking chatbot input to SQL logic; our project modernizes this by automating SQL generation using GPT-4 and enabling live medicine recommendations.</a:t>
            </a:r>
          </a:p>
          <a:p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BCAE1-9F56-1573-2E56-15A44ED24051}"/>
              </a:ext>
            </a:extLst>
          </p:cNvPr>
          <p:cNvSpPr txBox="1"/>
          <p:nvPr/>
        </p:nvSpPr>
        <p:spPr>
          <a:xfrm>
            <a:off x="313268" y="3356354"/>
            <a:ext cx="11226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 4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Robofy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Inc. (2024). </a:t>
            </a:r>
            <a:r>
              <a:rPr lang="en-US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 Checker Chatbot for Healthcare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Robofy.ai.</a:t>
            </a:r>
          </a:p>
          <a:p>
            <a:pPr>
              <a:buNone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Many symptom checkers use predefined templates that do not adapt to individual users or retrieve structured information.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Provided a fixed rule-based chatbot interface using symptom-condition mappings without real database interaction.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data backend, no personalization, and no support for medicine-specific recommendations.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Aspects: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Helped us design the initial chatbot interface and inspired our approach to conversational design and patient question flow.</a:t>
            </a:r>
          </a:p>
        </p:txBody>
      </p:sp>
    </p:spTree>
    <p:extLst>
      <p:ext uri="{BB962C8B-B14F-4D97-AF65-F5344CB8AC3E}">
        <p14:creationId xmlns:p14="http://schemas.microsoft.com/office/powerpoint/2010/main" val="660113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85DF0-B9E8-5313-5BD5-05D5B73A9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64C6B-1E64-78A5-6B7B-FA4B6928C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386979-2C12-E7B7-40D2-1841D48E1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F59E6E-23DC-D289-8F46-E47DC6880D02}"/>
              </a:ext>
            </a:extLst>
          </p:cNvPr>
          <p:cNvSpPr txBox="1"/>
          <p:nvPr/>
        </p:nvSpPr>
        <p:spPr>
          <a:xfrm>
            <a:off x="-1" y="49692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6AB002-C769-7ABD-2002-456A67D6EB92}"/>
              </a:ext>
            </a:extLst>
          </p:cNvPr>
          <p:cNvSpPr txBox="1"/>
          <p:nvPr/>
        </p:nvSpPr>
        <p:spPr>
          <a:xfrm>
            <a:off x="351366" y="1779058"/>
            <a:ext cx="114892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project aims to propose a medical chatbot system capable of suggesting relevant medicines based on user-described symptoms or health concerns.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personalized, patient-friendly medicine explanations to improve understanding and accessibility.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supports generating multilingual user manuals, helping users access medicine information in their preferred language.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chatbot is designed to enhance healthcare literacy by delivering fast, reliable, and easy-to-understand medicine guidance without needing technical knowledge.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990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4A9BD-7610-EDCA-2F6A-76245C1D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B241F3-848E-D090-C995-E8FCA7F07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A6A87D-96BE-B475-0A05-49100C9C2A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4FE12-A6E7-8039-499A-B0CF9569FE03}"/>
              </a:ext>
            </a:extLst>
          </p:cNvPr>
          <p:cNvSpPr txBox="1"/>
          <p:nvPr/>
        </p:nvSpPr>
        <p:spPr>
          <a:xfrm>
            <a:off x="0" y="27678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Study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668BFD-5800-CB96-2F23-67116A9A4BEB}"/>
              </a:ext>
            </a:extLst>
          </p:cNvPr>
          <p:cNvSpPr txBox="1"/>
          <p:nvPr/>
        </p:nvSpPr>
        <p:spPr>
          <a:xfrm>
            <a:off x="440267" y="1439333"/>
            <a:ext cx="1100666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conversational AI chatbot that understands user-described symptoms and general health-related queries using natural language processing.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 dynamic routing system (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RoutingAgent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that intelligently directs user queries to structured SQL searches, semantic vector searches, or LLM-based responses based on input type.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structured and semantic information retrieval by integrating both a traditional PostgreSQL database and a modern vector database (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Qdrant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for medicine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utilize large language models (GPT-4) for summarizing medicine information into patient-friendly, easy-to-understand explanations.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build a multilingual user manual generator, enabling users to generate downloadable medicine manuals in their preferred language.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enhance healthcare accessibility and literacy by providing clear, personalized medicine recommendations without requiring technical expertise.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288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5915A-BAB1-F2E0-07A3-98E42E103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12DE90-2BA1-FF27-4256-6A33F511A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7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7B2813-8BA8-5652-D8E3-0F2CBC920D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646272-08D9-331E-2F33-64222DFC9E29}"/>
              </a:ext>
            </a:extLst>
          </p:cNvPr>
          <p:cNvSpPr txBox="1"/>
          <p:nvPr/>
        </p:nvSpPr>
        <p:spPr>
          <a:xfrm>
            <a:off x="0" y="-1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MedXpert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Flow Chart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5EA7FF-B55F-CDD7-DED5-2B8751F42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3533"/>
            <a:ext cx="12192000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28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B6F3-C951-F44A-67BC-C67FF14B2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001A4-AE1C-D333-4958-0872F9DB7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8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98D62-15C7-C5B5-F4A9-14E7D4BEC8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E6EA8-CC4D-6990-0609-C903318A21E3}"/>
              </a:ext>
            </a:extLst>
          </p:cNvPr>
          <p:cNvSpPr txBox="1"/>
          <p:nvPr/>
        </p:nvSpPr>
        <p:spPr>
          <a:xfrm>
            <a:off x="135466" y="136525"/>
            <a:ext cx="11912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MedXpert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 Manual Flow Chart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6E049D-8F02-BF8D-D161-6244E47BC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1061641"/>
            <a:ext cx="10490200" cy="473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18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6AE9C-E641-BE01-D658-2E2DD1A98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1B54F9-7ED2-A44C-3844-63B7D6FF7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9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B92BBC-53FD-F8F8-48C8-B48F2732BAAC}"/>
              </a:ext>
            </a:extLst>
          </p:cNvPr>
          <p:cNvSpPr/>
          <p:nvPr/>
        </p:nvSpPr>
        <p:spPr>
          <a:xfrm>
            <a:off x="0" y="136525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22EF37-3BBA-50A7-506E-665052BE09E9}"/>
              </a:ext>
            </a:extLst>
          </p:cNvPr>
          <p:cNvSpPr txBox="1"/>
          <p:nvPr/>
        </p:nvSpPr>
        <p:spPr>
          <a:xfrm>
            <a:off x="0" y="27678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and Description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9FF9093-AEFE-4B4D-6B59-E79C21286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967795"/>
              </p:ext>
            </p:extLst>
          </p:nvPr>
        </p:nvGraphicFramePr>
        <p:xfrm>
          <a:off x="5647267" y="1760220"/>
          <a:ext cx="640926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422">
                  <a:extLst>
                    <a:ext uri="{9D8B030D-6E8A-4147-A177-3AD203B41FA5}">
                      <a16:colId xmlns:a16="http://schemas.microsoft.com/office/drawing/2014/main" val="503108429"/>
                    </a:ext>
                  </a:extLst>
                </a:gridCol>
                <a:gridCol w="2136422">
                  <a:extLst>
                    <a:ext uri="{9D8B030D-6E8A-4147-A177-3AD203B41FA5}">
                      <a16:colId xmlns:a16="http://schemas.microsoft.com/office/drawing/2014/main" val="3312788112"/>
                    </a:ext>
                  </a:extLst>
                </a:gridCol>
                <a:gridCol w="2136422">
                  <a:extLst>
                    <a:ext uri="{9D8B030D-6E8A-4147-A177-3AD203B41FA5}">
                      <a16:colId xmlns:a16="http://schemas.microsoft.com/office/drawing/2014/main" val="3017817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Number of Labels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File Size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68501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Aug-24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4,887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1.67 GB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54398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Sep-24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4,493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1.39 GB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60793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Oct-24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9,801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256.25 MB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84989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Nov-24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8,038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2.67 GB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52552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Dec-24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10,396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3.58 GB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52255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Jan-25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7,670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2.58 GB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88778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Feb-25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4,031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1.56 GB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72905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49,316 Labels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~13.13 GB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4535319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BED33F8-D327-486F-A96F-91C008E25039}"/>
              </a:ext>
            </a:extLst>
          </p:cNvPr>
          <p:cNvSpPr txBox="1"/>
          <p:nvPr/>
        </p:nvSpPr>
        <p:spPr>
          <a:xfrm>
            <a:off x="5799667" y="1261533"/>
            <a:ext cx="62568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1:Monthly Breakdown of SPL XML Archive Files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3C9FAB-ECC2-079E-490B-B09FBA45374A}"/>
              </a:ext>
            </a:extLst>
          </p:cNvPr>
          <p:cNvSpPr txBox="1"/>
          <p:nvPr/>
        </p:nvSpPr>
        <p:spPr>
          <a:xfrm>
            <a:off x="423333" y="1102791"/>
            <a:ext cx="4995333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1: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DailyMed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SPL XML Archives (Primary Dataset)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sz="1400" dirty="0">
                <a:solidFill>
                  <a:srgbClr val="0563C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HealthData.gov  – </a:t>
            </a:r>
            <a:r>
              <a:rPr lang="en-US" sz="1400" dirty="0" err="1">
                <a:solidFill>
                  <a:srgbClr val="0563C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DailyMed</a:t>
            </a:r>
            <a:r>
              <a:rPr lang="en-US" sz="1400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SPL Monthly Updates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Format: ZIP files containing structured XML data and corresponding drug label images.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Duration Covered: August 2024 to February 2025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Extracted Features: Medicine Name, Composition, Uses, Side Effects, Manufacturer Details, Image URLs.</a:t>
            </a:r>
          </a:p>
          <a:p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2: Kaggle Medicine Dataset – 11,000+ Records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Kaggle: 11,000+ Medicine Details Dataset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Records: Over 11,000 structured entries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Fields: Medicine Name, Composition, Uses, Side Effects, Manufacturer Details, Image URLs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Usage: Used for initial exploration, cross-referencing, and validation alongside the SPL XML dataset.</a:t>
            </a:r>
          </a:p>
          <a:p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3: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DrugBank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(Fallback External Source)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go.drugbank.com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Status: Access to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DrugBank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has been officially requested.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Case: To serve as a fallback resource for symptom queries not covered by the local datasets.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Although access is pending, the current two datasets are sufficient to support the full scope of this project.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6C8F26-CA85-B740-0096-2326947A13A9}"/>
              </a:ext>
            </a:extLst>
          </p:cNvPr>
          <p:cNvSpPr txBox="1"/>
          <p:nvPr/>
        </p:nvSpPr>
        <p:spPr>
          <a:xfrm>
            <a:off x="6083300" y="5289549"/>
            <a:ext cx="578273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datasets summarized in 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1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 the core data foundation for this medicine recommendation system (HealthData.gov, 2024; Singh, 2023).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467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846A3-EAAE-865A-E322-EE9C6FCA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B56377-4D51-027C-AC39-18B2B267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10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C74DA-4B3F-6C40-A313-3DF2A906C6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5416D1-8A0B-A9A9-5221-7EF239ED342E}"/>
              </a:ext>
            </a:extLst>
          </p:cNvPr>
          <p:cNvSpPr txBox="1"/>
          <p:nvPr/>
        </p:nvSpPr>
        <p:spPr>
          <a:xfrm>
            <a:off x="0" y="27678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Techniques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48523-D17A-2EE9-7DD2-20089A396D2F}"/>
              </a:ext>
            </a:extLst>
          </p:cNvPr>
          <p:cNvSpPr txBox="1"/>
          <p:nvPr/>
        </p:nvSpPr>
        <p:spPr>
          <a:xfrm>
            <a:off x="220133" y="1138347"/>
            <a:ext cx="1197186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for building the web-based chatbot and user manual application.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 — for structured storage of medicine information (SQL search).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Qdrant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Vector Database — for semantic similarity search (vector search).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Sentence Transformers (MiniLM-L6-v2) — for generating dense vector embeddings from text.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 GPT-3.5 and GPT-4 — for summarization, multilingual user manual generation, and conversation handling.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Tesseract OCR — for extracting text from scanned medicine images.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(Conceptual Architecture) — inspired the modular design of chaining agents (SQL Agent, Vector Agent, LLM Agent).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Context Protocol (MCP) — for classifying user input types.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RoutingAgent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for directing queries to SQL, Vector, or LLM paths.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(Pandas, Matplotlib,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dotenv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— for data handling, visualization, and environment management.</a:t>
            </a:r>
          </a:p>
          <a:p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722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43CC7-E068-E05E-AC4B-8326B9262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8C4CD5-313D-727D-3DA8-5B5F5909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11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BC7E08-FE0C-73CF-2189-03BA5E1861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720E3-70A0-2247-4720-1DA073CF07D1}"/>
              </a:ext>
            </a:extLst>
          </p:cNvPr>
          <p:cNvSpPr txBox="1"/>
          <p:nvPr/>
        </p:nvSpPr>
        <p:spPr>
          <a:xfrm>
            <a:off x="0" y="27678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Agent-Based System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6CE47-1386-EE1F-1E9E-52446CEF0660}"/>
              </a:ext>
            </a:extLst>
          </p:cNvPr>
          <p:cNvSpPr txBox="1"/>
          <p:nvPr/>
        </p:nvSpPr>
        <p:spPr>
          <a:xfrm>
            <a:off x="220133" y="1138347"/>
            <a:ext cx="1197186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Model Context Protocol (MCP) :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Classifies user inputs into Symptom Queries, Rating-Based Queries, or General Conversations to drive intelligent routing.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err="1">
                <a:solidFill>
                  <a:schemeClr val="bg1"/>
                </a:solidFill>
              </a:rPr>
              <a:t>RoutingAgent</a:t>
            </a:r>
            <a:r>
              <a:rPr lang="en-US" sz="1600" dirty="0">
                <a:solidFill>
                  <a:schemeClr val="bg1"/>
                </a:solidFill>
              </a:rPr>
              <a:t> :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Dynamically decides the most suitable agent (SQL Agent, Vector Agent, or LLM Agent) based on the classified intent.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SQL Agent :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Executes structured SQL queries on PostgreSQL to retrieve top-rated or specific medicine records.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Vector Agent :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Conducts semantic search using </a:t>
            </a:r>
            <a:r>
              <a:rPr lang="en-US" sz="1600" dirty="0" err="1">
                <a:solidFill>
                  <a:schemeClr val="bg1"/>
                </a:solidFill>
              </a:rPr>
              <a:t>SentenceTransformer</a:t>
            </a:r>
            <a:r>
              <a:rPr lang="en-US" sz="1600" dirty="0">
                <a:solidFill>
                  <a:schemeClr val="bg1"/>
                </a:solidFill>
              </a:rPr>
              <a:t> embeddings and </a:t>
            </a:r>
            <a:r>
              <a:rPr lang="en-US" sz="1600" dirty="0" err="1">
                <a:solidFill>
                  <a:schemeClr val="bg1"/>
                </a:solidFill>
              </a:rPr>
              <a:t>Qdrant</a:t>
            </a:r>
            <a:r>
              <a:rPr lang="en-US" sz="1600" dirty="0">
                <a:solidFill>
                  <a:schemeClr val="bg1"/>
                </a:solidFill>
              </a:rPr>
              <a:t> Vector Database for vague symptom queries.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LLM Agent :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Manages general conversation tasks like greetings, clarifications, and follow-up questions using GPT-3.5/4.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LLM Summarizer :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Refines and transforms database results into concise, patient-friendly language summaries for user readability.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996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1DDC5-6382-DFB7-5498-CD7C26F40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8C9940-494C-B0E5-A8C3-53F9FFE6E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12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C119B4-CBA5-2528-2356-D14B9180E3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B643A-0297-3DB3-8C9A-0138DADE1D53}"/>
              </a:ext>
            </a:extLst>
          </p:cNvPr>
          <p:cNvSpPr txBox="1"/>
          <p:nvPr/>
        </p:nvSpPr>
        <p:spPr>
          <a:xfrm>
            <a:off x="0" y="27678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of General Conversation Handling and Session Persistence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736C3F-BF36-6CDE-BDB7-534787417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835" y="1737823"/>
            <a:ext cx="6604399" cy="41465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73FB44-5B1F-F9A4-BA33-0FB0E3B9FE5F}"/>
              </a:ext>
            </a:extLst>
          </p:cNvPr>
          <p:cNvSpPr txBox="1"/>
          <p:nvPr/>
        </p:nvSpPr>
        <p:spPr>
          <a:xfrm>
            <a:off x="423333" y="1138347"/>
            <a:ext cx="52578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The </a:t>
            </a:r>
            <a:r>
              <a:rPr lang="en-US" sz="1400" dirty="0" err="1">
                <a:solidFill>
                  <a:schemeClr val="bg1"/>
                </a:solidFill>
              </a:rPr>
              <a:t>MedXpert</a:t>
            </a:r>
            <a:r>
              <a:rPr lang="en-US" sz="1400" dirty="0">
                <a:solidFill>
                  <a:schemeClr val="bg1"/>
                </a:solidFill>
              </a:rPr>
              <a:t> chatbot successfully handled open-ended greetings and general inquiries.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It correctly classified user messages like "Hello" and "Who are you?" as General Chat (not symptom-related).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The assistant responded appropriately and politely, introducing itself as a medical assistant.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Chat memory was maintained perfectly — both patient queries and </a:t>
            </a:r>
            <a:r>
              <a:rPr lang="en-US" sz="1400" dirty="0" err="1">
                <a:solidFill>
                  <a:schemeClr val="bg1"/>
                </a:solidFill>
              </a:rPr>
              <a:t>MedXpert</a:t>
            </a:r>
            <a:r>
              <a:rPr lang="en-US" sz="1400" dirty="0">
                <a:solidFill>
                  <a:schemeClr val="bg1"/>
                </a:solidFill>
              </a:rPr>
              <a:t> replies appeared in order.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No conversation loss was observed even after multiple exchanges.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This demonstrates that the MCP (Model Context Protocol) routing logic and LLM agent are working properly for general conversations.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</a:rPr>
              <a:t>Observation:</a:t>
            </a:r>
          </a:p>
          <a:p>
            <a:r>
              <a:rPr lang="en-US" sz="1400" dirty="0" err="1">
                <a:solidFill>
                  <a:schemeClr val="bg1"/>
                </a:solidFill>
              </a:rPr>
              <a:t>MedXpert</a:t>
            </a:r>
            <a:r>
              <a:rPr lang="en-US" sz="1400" dirty="0">
                <a:solidFill>
                  <a:schemeClr val="bg1"/>
                </a:solidFill>
              </a:rPr>
              <a:t> behaves like a human-like assistant, maintaining warm interaction and enhancing user engagement during non-medical queries.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</a:rPr>
              <a:t>Validation:</a:t>
            </a:r>
          </a:p>
          <a:p>
            <a:r>
              <a:rPr lang="en-US" sz="1400" dirty="0">
                <a:solidFill>
                  <a:schemeClr val="bg1"/>
                </a:solidFill>
              </a:rPr>
              <a:t>This proves that </a:t>
            </a:r>
            <a:r>
              <a:rPr lang="en-US" sz="1400" dirty="0" err="1">
                <a:solidFill>
                  <a:schemeClr val="bg1"/>
                </a:solidFill>
              </a:rPr>
              <a:t>MedXpert</a:t>
            </a:r>
            <a:r>
              <a:rPr lang="en-US" sz="1400" dirty="0">
                <a:solidFill>
                  <a:schemeClr val="bg1"/>
                </a:solidFill>
              </a:rPr>
              <a:t> can handle real-world casual healthcare conversations, not just strict symptom inputs. 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86991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670FA-6C0B-89DD-8C7B-F4544BF0F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DF0338-F304-268E-3C2A-68C9B40A5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7D41F0-FBD1-7203-946A-DE9FE6E60E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37BF2-F0DE-322F-E9C4-53426A3C2A62}"/>
              </a:ext>
            </a:extLst>
          </p:cNvPr>
          <p:cNvSpPr txBox="1"/>
          <p:nvPr/>
        </p:nvSpPr>
        <p:spPr>
          <a:xfrm>
            <a:off x="0" y="27678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</a:t>
            </a:r>
            <a:r>
              <a:rPr 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MedXpert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Symptom-Driven Recommendations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FF9DDC-BD34-5115-ECA2-F9071FD4B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895" y="3928320"/>
            <a:ext cx="4409971" cy="26105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59EF8B-10DE-7589-E7E2-79C994D24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797" y="1138347"/>
            <a:ext cx="4568403" cy="26421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5FCD81-6D60-07D2-C951-0C2F3797D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547" y="3882732"/>
            <a:ext cx="4682067" cy="270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654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FFA95-FE4B-228E-9D84-8770229FF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0EA055-23E1-2075-5FB8-72F6BB50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14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24C1AA-C803-AD55-6A94-FDF001D36F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D396B9-64B7-A1E9-125E-8000FE04CD2F}"/>
              </a:ext>
            </a:extLst>
          </p:cNvPr>
          <p:cNvSpPr txBox="1"/>
          <p:nvPr/>
        </p:nvSpPr>
        <p:spPr>
          <a:xfrm>
            <a:off x="0" y="27678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Generation of Patient-Friendly Medicine User Manuals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3A1B35-D778-442E-7C8E-8FCC525EB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0" y="1218539"/>
            <a:ext cx="6003431" cy="35663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F58ABA-6E57-4FF9-D445-436E0CFE2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093" y="3266753"/>
            <a:ext cx="5850444" cy="345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31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37BF-8D8D-BD23-90DA-E289B485F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EE9F7B-9B47-D938-B0D3-9E2FA9F65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E5D04A-45B1-0CF6-2794-6944A56193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2D3DFD-FF38-0141-F520-1A40F4A0ACF4}"/>
              </a:ext>
            </a:extLst>
          </p:cNvPr>
          <p:cNvSpPr txBox="1"/>
          <p:nvPr/>
        </p:nvSpPr>
        <p:spPr>
          <a:xfrm>
            <a:off x="84666" y="276199"/>
            <a:ext cx="12022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406226-4C84-238B-C005-2C8842B093CF}"/>
              </a:ext>
            </a:extLst>
          </p:cNvPr>
          <p:cNvSpPr txBox="1"/>
          <p:nvPr/>
        </p:nvSpPr>
        <p:spPr>
          <a:xfrm>
            <a:off x="745067" y="1198729"/>
            <a:ext cx="11201400" cy="4751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6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MedXpert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successfully delivers an AI-driven intelligent assistant capable of handling both general conversations and symptom-based medicine queries.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Using a modular agent architecture governed by the Model Context Protocol (MCP), the system dynamically routes user inputs to the SQL Agent, Vector Agent, or LLM Agent based on query type.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 symptom queries, it generates optimized SQL searches, retrieves relevant medicines, and provides summarized, patient-friendly explanations.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 general inquiries, it engages users conversationally through GPT-based dialogue.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platform also visualizes medicine ratings graphically and generates customized multilingual user manuals to enhance drug information accessibility.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Built with </a:t>
            </a:r>
            <a:r>
              <a:rPr lang="en-US" sz="16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Streamlit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for an interactive frontend, </a:t>
            </a:r>
            <a:r>
              <a:rPr lang="en-US" sz="16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MedXpert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maintains session memory, supports modular expansion, and ensures a seamless user experience.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system’s scalable design positions it for future enhancements like multilingual chat, audio input/output, and disease prediction models.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31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D6FBB-DBC8-4268-12AA-50A3C5DA3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91B635-821D-705D-6C1E-895347BE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A1E152-B73F-F75E-7545-EEDFA82808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1B3064-E08B-80C0-DECD-7BF091B92A01}"/>
              </a:ext>
            </a:extLst>
          </p:cNvPr>
          <p:cNvSpPr txBox="1"/>
          <p:nvPr/>
        </p:nvSpPr>
        <p:spPr>
          <a:xfrm>
            <a:off x="84666" y="276199"/>
            <a:ext cx="12022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972052-4BB9-0C8E-33E7-73A7657BEE6E}"/>
              </a:ext>
            </a:extLst>
          </p:cNvPr>
          <p:cNvSpPr txBox="1"/>
          <p:nvPr/>
        </p:nvSpPr>
        <p:spPr>
          <a:xfrm>
            <a:off x="635001" y="1198729"/>
            <a:ext cx="11023600" cy="4673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-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HealthData.gov. (2024). </a:t>
            </a:r>
            <a:r>
              <a:rPr lang="en-US" sz="1600" i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DailyMed</a:t>
            </a:r>
            <a:r>
              <a:rPr lang="en-US" sz="1600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SPL XML Archive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U.S. Department of Health &amp; Human Services. </a:t>
            </a:r>
            <a:r>
              <a:rPr lang="en-US" sz="1600" u="sng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https://healthdata.gov/dataset/DailyMed/j3hv-i8vg</a:t>
            </a:r>
            <a:endParaRPr lang="en-US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 marR="0" indent="-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Singh, N. (2023). </a:t>
            </a:r>
            <a:r>
              <a:rPr lang="en-US" sz="1600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11,000+ Medicine Details Dataset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[Data set]. Kaggle. </a:t>
            </a:r>
            <a:r>
              <a:rPr lang="en-US" sz="1600" u="sng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https://www.kaggle.com/datasets/singhnavjot2062001/11000-medicine-details</a:t>
            </a:r>
            <a:endParaRPr lang="en-US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 marR="0" indent="-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Wang, Y., et al. (2024). </a:t>
            </a:r>
            <a:r>
              <a:rPr lang="en-US" sz="1600" i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ProbGate</a:t>
            </a:r>
            <a:r>
              <a:rPr lang="en-US" sz="1600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at EHRSQL: Enhancing SQL Query Generation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6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arXiv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600" u="sng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https://arxiv.org/abs/2401.00268</a:t>
            </a:r>
            <a:endParaRPr lang="en-US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 marR="0" indent="-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Jadhav, A., et al. (2023). </a:t>
            </a:r>
            <a:r>
              <a:rPr lang="en-US" sz="1600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Healthcare Chatbot Using NLP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International Journal of Computer Science and Information Technologies (IJCSIT).</a:t>
            </a:r>
          </a:p>
          <a:p>
            <a:pPr marL="228600" marR="0" indent="-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Patel, K. (2023). </a:t>
            </a:r>
            <a:r>
              <a:rPr lang="en-US" sz="1600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Automated Medical Chatbot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6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EasyChair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Preprints. https://easychair.org/publications/preprint/Gs2C</a:t>
            </a:r>
          </a:p>
          <a:p>
            <a:pPr marL="228600" marR="0" indent="-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Robofy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Inc. (2024). </a:t>
            </a:r>
            <a:r>
              <a:rPr lang="en-US" sz="1600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Symptom Checker Chatbot for Healthcare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600" u="sng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https://robofy.ai</a:t>
            </a:r>
            <a:endParaRPr lang="en-US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 marR="0" indent="-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Merck &amp; Co. (2024). </a:t>
            </a:r>
            <a:r>
              <a:rPr lang="en-US" sz="1600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Using Amazon Bedrock for Healthcare SQL Search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AWS Blog.</a:t>
            </a:r>
          </a:p>
          <a:p>
            <a:pPr marL="228600" marR="0" indent="-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Shinde, R., &amp; Gupta, P. (2023). </a:t>
            </a:r>
            <a:r>
              <a:rPr lang="en-US" sz="1600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AI-Based Healthcare Chatbot Using NLP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IJNRD.</a:t>
            </a:r>
          </a:p>
          <a:p>
            <a:pPr marL="228600" marR="0" indent="-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DrugBank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(2024). </a:t>
            </a:r>
            <a:r>
              <a:rPr lang="en-US" sz="1600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Drug Database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600" u="sng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https://go.drugbank.com</a:t>
            </a:r>
            <a:endParaRPr lang="en-US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 marR="0" indent="-45720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Zheng, C., et al. (2024). </a:t>
            </a:r>
            <a:r>
              <a:rPr lang="en-US" sz="1600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MedT5SQL: A Transformers-Based LLM for Text-to-SQL in EMRs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PubMed Central.</a:t>
            </a:r>
          </a:p>
        </p:txBody>
      </p:sp>
    </p:spTree>
    <p:extLst>
      <p:ext uri="{BB962C8B-B14F-4D97-AF65-F5344CB8AC3E}">
        <p14:creationId xmlns:p14="http://schemas.microsoft.com/office/powerpoint/2010/main" val="702300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F402B760-09FB-7348-8C67-DCAC88C6CBC2}"/>
              </a:ext>
            </a:extLst>
          </p:cNvPr>
          <p:cNvSpPr/>
          <p:nvPr/>
        </p:nvSpPr>
        <p:spPr>
          <a:xfrm>
            <a:off x="8076008" y="1039839"/>
            <a:ext cx="3457401" cy="3457401"/>
          </a:xfrm>
          <a:prstGeom prst="ellipse">
            <a:avLst/>
          </a:prstGeom>
          <a:solidFill>
            <a:srgbClr val="74C4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0A4EF44-D1A3-E14E-BB09-389A47FCDC48}"/>
              </a:ext>
            </a:extLst>
          </p:cNvPr>
          <p:cNvSpPr/>
          <p:nvPr/>
        </p:nvSpPr>
        <p:spPr>
          <a:xfrm>
            <a:off x="6124379" y="1774456"/>
            <a:ext cx="2496674" cy="2496674"/>
          </a:xfrm>
          <a:prstGeom prst="ellipse">
            <a:avLst/>
          </a:prstGeom>
          <a:solidFill>
            <a:srgbClr val="007B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83A2ACE-0D5E-384B-9A6E-674AEC575B68}"/>
              </a:ext>
            </a:extLst>
          </p:cNvPr>
          <p:cNvSpPr/>
          <p:nvPr/>
        </p:nvSpPr>
        <p:spPr>
          <a:xfrm>
            <a:off x="7512922" y="3762622"/>
            <a:ext cx="1946630" cy="1946630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B2AF749-8A90-084D-9E88-6F607893C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903" y="1310738"/>
            <a:ext cx="839610" cy="9274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9675027-528B-EB43-A286-5E8E7377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259" y="2179707"/>
            <a:ext cx="608650" cy="67231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CBEC96E-9508-B645-BDEB-A15BFDD9B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513" y="4071080"/>
            <a:ext cx="447447" cy="4942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A7DCF1-6C16-374C-8F76-507B203E3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2A6CD8-29EB-AC48-A197-87E92D2FF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962" y="6016749"/>
            <a:ext cx="1599045" cy="68530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320F0C-3D09-44B1-A6D4-37BE17747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17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3A07544-8A84-4A57-8CC5-729BD6523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113" y="2761131"/>
            <a:ext cx="2940478" cy="75476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794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20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2467</TotalTime>
  <Words>1865</Words>
  <Application>Microsoft Office PowerPoint</Application>
  <PresentationFormat>Widescreen</PresentationFormat>
  <Paragraphs>205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 Narrow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Davis, Clayton</dc:creator>
  <cp:lastModifiedBy>Krishna Annavaram</cp:lastModifiedBy>
  <cp:revision>42</cp:revision>
  <cp:lastPrinted>2019-08-23T20:44:22Z</cp:lastPrinted>
  <dcterms:created xsi:type="dcterms:W3CDTF">2019-07-08T18:39:15Z</dcterms:created>
  <dcterms:modified xsi:type="dcterms:W3CDTF">2025-06-18T21:52:19Z</dcterms:modified>
</cp:coreProperties>
</file>